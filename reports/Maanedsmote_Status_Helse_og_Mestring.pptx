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KRISTIANSAND KOMMUNE — HELSE OG MESTRING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Georgia"/>
              </a:defRPr>
            </a:pPr>
            <a:r>
              <a:t>Månedlig Statusrapport &amp; Avviksanalyse</a:t>
            </a:r>
          </a:p>
          <a:p>
            <a:pPr>
              <a:spcBef>
                <a:spcPts val="1500"/>
              </a:spcBef>
              <a:defRPr sz="1600">
                <a:solidFill>
                  <a:srgbClr val="6B7280"/>
                </a:solidFill>
                <a:latin typeface="Arial"/>
              </a:defRPr>
            </a:pPr>
            <a:r>
              <a:t>Status per 2. tertial | Prediktiv EOY-prognose &amp; Preskriptive balansetiltak (§ 14-5)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0362895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🔴 RAG STATUS: KRITISK MERFORBRUK (+12,5 mill. kr avvik hittil | EOY prognose: +18,8 mill. kr)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HELSE OG MESTRING | MÅNEDLIG BUDSJETTOPPFØLGING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Driftsstatus og Økonomiske Hovedtall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000" b="1">
                <a:solidFill>
                  <a:srgbClr val="6B7280"/>
                </a:solidFill>
                <a:latin typeface="Arial"/>
              </a:defRPr>
            </a:pPr>
            <a:r>
              <a:t>VEDTATT ÅRSBUDSJETT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  <a:latin typeface="Georgia"/>
              </a:defRPr>
            </a:pPr>
            <a:r>
              <a:t>1 245,0 mill.</a:t>
            </a:r>
          </a:p>
          <a:p>
            <a:pPr>
              <a:spcBef>
                <a:spcPts val="500"/>
              </a:spcBef>
              <a:defRPr sz="900">
                <a:solidFill>
                  <a:srgbClr val="6B7280"/>
                </a:solidFill>
                <a:latin typeface="Arial"/>
              </a:defRPr>
            </a:pPr>
            <a:r>
              <a:t>Godkjent ramme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000" b="1">
                <a:solidFill>
                  <a:srgbClr val="6B7280"/>
                </a:solidFill>
                <a:latin typeface="Arial"/>
              </a:defRPr>
            </a:pPr>
            <a:r>
              <a:t>AKKUMULERT FORBRUK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  <a:latin typeface="Georgia"/>
              </a:defRPr>
            </a:pPr>
            <a:r>
              <a:t>842,5 mill.</a:t>
            </a:r>
          </a:p>
          <a:p>
            <a:pPr>
              <a:spcBef>
                <a:spcPts val="500"/>
              </a:spcBef>
              <a:defRPr sz="900">
                <a:solidFill>
                  <a:srgbClr val="6B7280"/>
                </a:solidFill>
                <a:latin typeface="Arial"/>
              </a:defRPr>
            </a:pPr>
            <a:r>
              <a:t>Hittil per august (mnd 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000" b="1">
                <a:solidFill>
                  <a:srgbClr val="6B7280"/>
                </a:solidFill>
                <a:latin typeface="Arial"/>
              </a:defRPr>
            </a:pPr>
            <a:r>
              <a:t>PERIODISERT BUDSJETT</a:t>
            </a:r>
          </a:p>
          <a:p>
            <a:pPr>
              <a:spcBef>
                <a:spcPts val="500"/>
              </a:spcBef>
              <a:defRPr sz="2200" b="1">
                <a:solidFill>
                  <a:srgbClr val="0F172A"/>
                </a:solidFill>
                <a:latin typeface="Georgia"/>
              </a:defRPr>
            </a:pPr>
            <a:r>
              <a:t>830,0 mill.</a:t>
            </a:r>
          </a:p>
          <a:p>
            <a:pPr>
              <a:spcBef>
                <a:spcPts val="500"/>
              </a:spcBef>
              <a:defRPr sz="900">
                <a:solidFill>
                  <a:srgbClr val="6B7280"/>
                </a:solidFill>
                <a:latin typeface="Arial"/>
              </a:defRPr>
            </a:pPr>
            <a:r>
              <a:t>Forventet forbruk mnd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000" b="1">
                <a:solidFill>
                  <a:srgbClr val="6B7280"/>
                </a:solidFill>
                <a:latin typeface="Arial"/>
              </a:defRPr>
            </a:pPr>
            <a:r>
              <a:t>NETTO AVVIK HITTIL</a:t>
            </a:r>
          </a:p>
          <a:p>
            <a:pPr>
              <a:spcBef>
                <a:spcPts val="500"/>
              </a:spcBef>
              <a:defRPr sz="2200" b="1">
                <a:solidFill>
                  <a:srgbClr val="DC2626"/>
                </a:solidFill>
                <a:latin typeface="Georgia"/>
              </a:defRPr>
            </a:pPr>
            <a:r>
              <a:t>+12,5 mill.</a:t>
            </a:r>
          </a:p>
          <a:p>
            <a:pPr>
              <a:spcBef>
                <a:spcPts val="500"/>
              </a:spcBef>
              <a:defRPr sz="900">
                <a:solidFill>
                  <a:srgbClr val="6B7280"/>
                </a:solidFill>
                <a:latin typeface="Arial"/>
              </a:defRPr>
            </a:pPr>
            <a:r>
              <a:t>🔴 Merforbruk (1,5% avvik)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Hovedårsaker til avvik i sektoren (Diagnose):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Arial"/>
              </a:defRPr>
            </a:pPr>
            <a:r>
              <a:t>• Hjemmetjenesten (Funksjon 258): Høyt sykefravær (11,2%) medfører betydelig overtid (Art 109000) for å opprettholde lovpålagt dekning.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Arial"/>
              </a:defRPr>
            </a:pPr>
            <a:r>
              <a:t>• Heldøgns Omsorg (Funksjon 253): Utsatt gradvis åpning av Randesund Omsorgssenter samt høye vikarutgifter (Art 110000).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Arial"/>
              </a:defRPr>
            </a:pPr>
            <a:r>
              <a:t>• Sykelønnsrefusjoner (Art 169000): Etterslep på saksbehandling og inntektsføring fra NAV gir midlertidig svikt i refusjonsinntekter.</a:t>
            </a:r>
          </a:p>
          <a:p>
            <a:pPr>
              <a:spcBef>
                <a:spcPts val="800"/>
              </a:spcBef>
              <a:defRPr sz="1200">
                <a:solidFill>
                  <a:srgbClr val="1F2937"/>
                </a:solidFill>
                <a:latin typeface="Arial"/>
              </a:defRPr>
            </a:pPr>
            <a:r>
              <a:t>• BPA og Fritt Brukervalg: Økt vedtaksvolum gir press på driftsrammene utover opprinnelig demografikompensasjon.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HELSE OG MESTRING | MÅNEDLIG BUDSJETTOPPFØLGING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Financial Times Visual Vocabulary: Avvik per Artskonto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2011680"/>
                <a:gridCol w="2133295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Artskonto / Kostnadstype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Periodisert Budsjett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Faktisk Forbruk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Avvik (Kr)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 Status &amp; Driver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Art 109000 - Overtid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14,2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21,5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+7,3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🔴 Kritisk (Sykefravær)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Art 110000 - Innleie/Vikarer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11,0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+3,0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🔴 Kritisk (Vikarbyrå)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Art 100000 - Fast Lønn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520,0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522,1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+2,1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🟡 Moderat avvik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Art 169000 - Refusjon Sykepenger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-35,0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-32,0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+3,0 mill.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🔴 Etterslep NAV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Øvrige Driftsposter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322,8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319,9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-2,9 mill.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🟢 Mindreforbruk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HELSE OG MESTRING | MÅNEDLIG BUDSJETTOPPFØLGING</a:t>
            </a:r>
          </a:p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Preskriptiv Handlingsplan for Budsjetti I Balanse (§ 14-5)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1. TØRN &amp; Turnusgenerator   |   Innsparingseffekt: -3,5 mill. kr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Omorganisere helgeavvikling og oppgavedeling for å redusere overtidsbruk.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2. NAV Refusjonsrutine   |   Innsparingseffekt: -2,5 mill. kr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Dedikere ressurs til akselerert inntektsføring av sykelønnsrefusjoner.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3. Målrettet Nærværsarbeid   |   Innsparingseffekt: -2,0 mill. kr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Systematisk oppfølging for å senke sykefraværet fra 11,2% mot kommunemålet 8,1%.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4. Ansettelsesfrys Støtte   |   Innsparingseffekt: -1,5 mill. kr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Midlertidig frys i rekruttering til ikke-lovpålagte støttestillinger.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5. Intern Rammekorrigering   |   Innsparingseffekt: -3,0 mill. kr</a:t>
            </a:r>
          </a:p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Omdisponering av mindreforbruk fra øvrige driftsposter og varekjøp.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